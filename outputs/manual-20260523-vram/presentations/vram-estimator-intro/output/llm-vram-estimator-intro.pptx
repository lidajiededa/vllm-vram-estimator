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5F09443-A5F7-4B82-8FCE-1589D47482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4FB5337-4F5E-4CAE-83E4-28D41C86AC19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55A52D-4304-4D4E-A9A3-8EBDCDFD71A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大模型部署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85D24A-6381-4DE8-AC3F-5CB88696C02D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83DD94-CFCB-4356-94CA-8D79E1D80A86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619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大模型显存估算</a:t>
            </a:r>
            <a:r>
              <a:rPr sz="39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 algn="l">
              <a:defRPr sz="39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从原理到工具</a:t>
            </a:r>
            <a:endParaRPr sz="390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142D33-08F5-40A8-A12B-7AC52A581668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拿到 model config 与部署参数后，先估算每张卡会占多少显存，再决定 TP/DP/EP、上下文长度与 PD 分离配置。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9ADB9-30F0-40EF-8EA7-87E98E863263}"/>
              </a:ext>
            </a:extLst>
          </p:cNvPr>
          <p:cNvSpPr>
            <a:spLocks noGrp="1"/>
          </p:cNvSpPr>
          <p:nvPr/>
        </p:nvSpPr>
        <p:spPr>
          <a:xfrm>
            <a:off x="7543800" y="819150"/>
            <a:ext cx="3619500" cy="476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2E1125-7A56-4B12-8051-E8763FF4F1FA}"/>
              </a:ext>
            </a:extLst>
          </p:cNvPr>
          <p:cNvSpPr>
            <a:spLocks noGrp="1"/>
          </p:cNvSpPr>
          <p:nvPr/>
        </p:nvSpPr>
        <p:spPr>
          <a:xfrm>
            <a:off x="7905750" y="11430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VRAM / GPU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53E490-FF43-4FCA-8CE1-55DF5C99A8EC}"/>
              </a:ext>
            </a:extLst>
          </p:cNvPr>
          <p:cNvSpPr>
            <a:spLocks noGrp="1"/>
          </p:cNvSpPr>
          <p:nvPr/>
        </p:nvSpPr>
        <p:spPr>
          <a:xfrm>
            <a:off x="8001000" y="1695450"/>
            <a:ext cx="666750" cy="419100"/>
          </a:xfrm>
          <a:prstGeom prst="rect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ACBC26-6E85-40A0-BBFA-241990CC0A88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weights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61492A-026A-4ECB-AE11-7A48B08DF6E6}"/>
              </a:ext>
            </a:extLst>
          </p:cNvPr>
          <p:cNvSpPr>
            <a:spLocks noGrp="1"/>
          </p:cNvSpPr>
          <p:nvPr/>
        </p:nvSpPr>
        <p:spPr>
          <a:xfrm>
            <a:off x="8858250" y="19431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模型权重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8175B3-670D-47A0-9383-5F73EC1463B5}"/>
              </a:ext>
            </a:extLst>
          </p:cNvPr>
          <p:cNvSpPr>
            <a:spLocks noGrp="1"/>
          </p:cNvSpPr>
          <p:nvPr/>
        </p:nvSpPr>
        <p:spPr>
          <a:xfrm>
            <a:off x="8001000" y="2476500"/>
            <a:ext cx="933450" cy="419100"/>
          </a:xfrm>
          <a:prstGeom prst="rect">
            <a:avLst/>
          </a:prstGeom>
          <a:solidFill>
            <a:srgbClr val="12A5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CCA094-8B06-4601-8333-4D37EE61AC07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kv_cache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84AA08-CFBA-41B8-9254-87C1EAD71449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上下文容量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7E97F5-9CDE-4988-93BA-FD241E157767}"/>
              </a:ext>
            </a:extLst>
          </p:cNvPr>
          <p:cNvSpPr>
            <a:spLocks noGrp="1"/>
          </p:cNvSpPr>
          <p:nvPr/>
        </p:nvSpPr>
        <p:spPr>
          <a:xfrm>
            <a:off x="8001000" y="3257550"/>
            <a:ext cx="1200150" cy="419100"/>
          </a:xfrm>
          <a:prstGeom prst="rect">
            <a:avLst/>
          </a:prstGeom>
          <a:solidFill>
            <a:srgbClr val="F2A5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BD9841-C7A3-4F4F-BBD6-A3FB1820E17F}"/>
              </a:ext>
            </a:extLst>
          </p:cNvPr>
          <p:cNvSpPr>
            <a:spLocks noGrp="1"/>
          </p:cNvSpPr>
          <p:nvPr/>
        </p:nvSpPr>
        <p:spPr>
          <a:xfrm>
            <a:off x="8858250" y="3276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activation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E2C7C9-FC93-4F0E-BD81-308507FC32D7}"/>
              </a:ext>
            </a:extLst>
          </p:cNvPr>
          <p:cNvSpPr>
            <a:spLocks noGrp="1"/>
          </p:cNvSpPr>
          <p:nvPr/>
        </p:nvSpPr>
        <p:spPr>
          <a:xfrm>
            <a:off x="8858250" y="35052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prefill 峰值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FE3E84-24B6-4532-9038-CAC7CDF8DAE8}"/>
              </a:ext>
            </a:extLst>
          </p:cNvPr>
          <p:cNvSpPr>
            <a:spLocks noGrp="1"/>
          </p:cNvSpPr>
          <p:nvPr/>
        </p:nvSpPr>
        <p:spPr>
          <a:xfrm>
            <a:off x="8001000" y="4038600"/>
            <a:ext cx="1466850" cy="4191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9A7DAA-0F30-4841-ADB9-115F107EC846}"/>
              </a:ext>
            </a:extLst>
          </p:cNvPr>
          <p:cNvSpPr>
            <a:spLocks noGrp="1"/>
          </p:cNvSpPr>
          <p:nvPr/>
        </p:nvSpPr>
        <p:spPr>
          <a:xfrm>
            <a:off x="8858250" y="40576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runtime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719E01-197E-4BAC-9450-C10232EC71F4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运行时与通信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697C1F-D930-4995-9EFE-BF1AF82ACED0}"/>
              </a:ext>
            </a:extLst>
          </p:cNvPr>
          <p:cNvSpPr>
            <a:spLocks noGrp="1"/>
          </p:cNvSpPr>
          <p:nvPr/>
        </p:nvSpPr>
        <p:spPr>
          <a:xfrm>
            <a:off x="7791450" y="4876800"/>
            <a:ext cx="2857500" cy="400050"/>
          </a:xfrm>
          <a:prstGeom prst="rect">
            <a:avLst/>
          </a:prstGeom>
          <a:solidFill>
            <a:srgbClr val="17212B"/>
          </a:solidFill>
          <a:ln w="9525">
            <a:solidFill>
              <a:srgbClr val="17212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10863A-C34C-4282-9049-D2D73FCC7C5C}"/>
              </a:ext>
            </a:extLst>
          </p:cNvPr>
          <p:cNvSpPr>
            <a:spLocks noGrp="1"/>
          </p:cNvSpPr>
          <p:nvPr/>
        </p:nvSpPr>
        <p:spPr>
          <a:xfrm>
            <a:off x="7867650" y="4905375"/>
            <a:ext cx="2705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目标：部署前判断是否 OOM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D1BE8C-E459-4DD8-B233-7BD6A043BC3F}"/>
              </a:ext>
            </a:extLst>
          </p:cNvPr>
          <p:cNvSpPr>
            <a:spLocks noGrp="1"/>
          </p:cNvSpPr>
          <p:nvPr/>
        </p:nvSpPr>
        <p:spPr>
          <a:xfrm>
            <a:off x="590550" y="600075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vllm-vram-estimator</a:t>
            </a:r>
          </a:p>
        </p:txBody>
      </p:sp>
    </p:spTree>
    <p:extLst>
      <p:ext uri="{BB962C8B-B14F-4D97-AF65-F5344CB8AC3E}">
        <p14:creationId xmlns:p14="http://schemas.microsoft.com/office/powerpoint/2010/main" val="149519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FD8AFC6D-DC3E-4E54-9286-DDE825827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B547E76-B534-479F-86D3-8209CB17C66C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60519-B54F-413D-8484-78E3442050C2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基础公式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69ADAF-4872-46A2-997A-FBD751423015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567092-198F-4CCC-8F36-B1BB64710300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显存不是一个数，而是几类占用的叠加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7C40BB-4AB8-46C7-8B24-8FEB6094956A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估算的第一步，是把“常驻”和“临时”分开。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938037-6040-4023-B463-90D7690DB869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668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EF3AA8-356B-4FAD-A947-8E98510771A2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VRAM_per_gpu =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566924-597A-46F3-AFE0-DDD86BB3AED3}"/>
              </a:ext>
            </a:extLst>
          </p:cNvPr>
          <p:cNvSpPr>
            <a:spLocks noGrp="1"/>
          </p:cNvSpPr>
          <p:nvPr/>
        </p:nvSpPr>
        <p:spPr>
          <a:xfrm>
            <a:off x="3562350" y="2781300"/>
            <a:ext cx="1352550" cy="1352550"/>
          </a:xfrm>
          <a:prstGeom prst="rect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382EB4-910A-4E78-A2E7-7611CA72D4FD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model weights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4F990A-CBB7-4231-9B94-AC44856502CE}"/>
              </a:ext>
            </a:extLst>
          </p:cNvPr>
          <p:cNvSpPr>
            <a:spLocks noGrp="1"/>
          </p:cNvSpPr>
          <p:nvPr/>
        </p:nvSpPr>
        <p:spPr>
          <a:xfrm>
            <a:off x="3409950" y="4343400"/>
            <a:ext cx="1666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模型权重分片，受 dtype、TP/EP/DP/PP 影响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7D9CEC-2A94-4CC1-9D54-6D17EC638A97}"/>
              </a:ext>
            </a:extLst>
          </p:cNvPr>
          <p:cNvSpPr>
            <a:spLocks noGrp="1"/>
          </p:cNvSpPr>
          <p:nvPr/>
        </p:nvSpPr>
        <p:spPr>
          <a:xfrm>
            <a:off x="5372100" y="2781300"/>
            <a:ext cx="1352550" cy="1352550"/>
          </a:xfrm>
          <a:prstGeom prst="rect">
            <a:avLst/>
          </a:prstGeom>
          <a:solidFill>
            <a:srgbClr val="12A5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EE9312-926E-4CB2-B80E-090A0A2E5247}"/>
              </a:ext>
            </a:extLst>
          </p:cNvPr>
          <p:cNvSpPr>
            <a:spLocks noGrp="1"/>
          </p:cNvSpPr>
          <p:nvPr/>
        </p:nvSpPr>
        <p:spPr>
          <a:xfrm>
            <a:off x="5448300" y="30289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KV cache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4DB235-25E8-4456-BD27-0180C2DE7D0C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1666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服务时为上下文预留，通常随 tokens 线性增长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67D74A-49A0-4CB1-95D0-DD9E0B407820}"/>
              </a:ext>
            </a:extLst>
          </p:cNvPr>
          <p:cNvSpPr>
            <a:spLocks noGrp="1"/>
          </p:cNvSpPr>
          <p:nvPr/>
        </p:nvSpPr>
        <p:spPr>
          <a:xfrm>
            <a:off x="4972050" y="321945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+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468A95-29D0-4ED8-8193-6E3A3AEE6E38}"/>
              </a:ext>
            </a:extLst>
          </p:cNvPr>
          <p:cNvSpPr>
            <a:spLocks noGrp="1"/>
          </p:cNvSpPr>
          <p:nvPr/>
        </p:nvSpPr>
        <p:spPr>
          <a:xfrm>
            <a:off x="7181850" y="2781300"/>
            <a:ext cx="1352550" cy="1352550"/>
          </a:xfrm>
          <a:prstGeom prst="rect">
            <a:avLst/>
          </a:prstGeom>
          <a:solidFill>
            <a:srgbClr val="F2A5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025CB7-837E-4696-B5CA-710B4D2E1C55}"/>
              </a:ext>
            </a:extLst>
          </p:cNvPr>
          <p:cNvSpPr>
            <a:spLocks noGrp="1"/>
          </p:cNvSpPr>
          <p:nvPr/>
        </p:nvSpPr>
        <p:spPr>
          <a:xfrm>
            <a:off x="7258050" y="30289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activation peak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39B415-0471-4192-8025-B20E510CFA5F}"/>
              </a:ext>
            </a:extLst>
          </p:cNvPr>
          <p:cNvSpPr>
            <a:spLocks noGrp="1"/>
          </p:cNvSpPr>
          <p:nvPr/>
        </p:nvSpPr>
        <p:spPr>
          <a:xfrm>
            <a:off x="7029450" y="4343400"/>
            <a:ext cx="1666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prefill 或大 batch 时的临时峰值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49CAC2-4A07-416E-95FA-5EAC9712C29B}"/>
              </a:ext>
            </a:extLst>
          </p:cNvPr>
          <p:cNvSpPr>
            <a:spLocks noGrp="1"/>
          </p:cNvSpPr>
          <p:nvPr/>
        </p:nvSpPr>
        <p:spPr>
          <a:xfrm>
            <a:off x="6781800" y="321945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+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D76BBB-7C99-4EF3-BA25-01667E9604CA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1352550" cy="13525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91C5B0-7D0D-47EF-BFAF-8DCEA1D043D4}"/>
              </a:ext>
            </a:extLst>
          </p:cNvPr>
          <p:cNvSpPr>
            <a:spLocks noGrp="1"/>
          </p:cNvSpPr>
          <p:nvPr/>
        </p:nvSpPr>
        <p:spPr>
          <a:xfrm>
            <a:off x="9067800" y="30289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runtime reserve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4F19F7-2C33-406B-8E62-8EBBA37D876C}"/>
              </a:ext>
            </a:extLst>
          </p:cNvPr>
          <p:cNvSpPr>
            <a:spLocks noGrp="1"/>
          </p:cNvSpPr>
          <p:nvPr/>
        </p:nvSpPr>
        <p:spPr>
          <a:xfrm>
            <a:off x="8839200" y="4343400"/>
            <a:ext cx="1666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allocator、kernel、graph、通信等缓冲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9F3451-6E46-4B95-8D33-0C079736B17F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+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28038B-97F0-4E09-903F-0090BC7DBF73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工具做的事：把 config 与部署参数映射到这四类，再逐项输出 per-GPU breakdown。</a:t>
            </a:r>
          </a:p>
        </p:txBody>
      </p:sp>
    </p:spTree>
    <p:extLst>
      <p:ext uri="{BB962C8B-B14F-4D97-AF65-F5344CB8AC3E}">
        <p14:creationId xmlns:p14="http://schemas.microsoft.com/office/powerpoint/2010/main" val="129701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BC07831-9A80-4272-8B5C-EE32027178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C45015C-C833-49D1-8A90-0858C215C84A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9EAC57-E090-447D-AAC6-563CFFA687D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权重显存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C7871A-4A45-41F5-BFF7-0DBB5F4A0689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2AAFD2-42F8-4CC8-8B87-B1586FD28C31}"/>
              </a:ext>
            </a:extLst>
          </p:cNvPr>
          <p:cNvSpPr>
            <a:spLocks noGrp="1"/>
          </p:cNvSpPr>
          <p:nvPr/>
        </p:nvSpPr>
        <p:spPr>
          <a:xfrm>
            <a:off x="476249" y="819150"/>
            <a:ext cx="8223133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权重显存从参数量开始，再乘以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dtype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并切分</a:t>
            </a:r>
            <a:endParaRPr sz="300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71313A-EDF1-406E-B63B-2E74A8FB1FBD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Dense 模型主要看总参数；MoE 还要分专家与非专家。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A6F4C2-E1F8-4435-8D95-FF32F8D6FEE6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143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BC0A38-AF0F-4317-AD9D-949F30CF88E2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参数量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337D17-E1D4-4613-9CA4-AEEEB8C67007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2095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embedding</a:t>
            </a:r>
          </a:p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attention</a:t>
            </a:r>
          </a:p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MLP / experts</a:t>
            </a:r>
          </a:p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norm / bias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C33691-5559-4F18-A15F-D34B64DEC41C}"/>
              </a:ext>
            </a:extLst>
          </p:cNvPr>
          <p:cNvSpPr>
            <a:spLocks noGrp="1"/>
          </p:cNvSpPr>
          <p:nvPr/>
        </p:nvSpPr>
        <p:spPr>
          <a:xfrm>
            <a:off x="3905250" y="3552825"/>
            <a:ext cx="8572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23D39A5E-0ED6-4463-8A9A-0E818CCEF848}"/>
              </a:ext>
            </a:extLst>
          </p:cNvPr>
          <p:cNvSpPr>
            <a:spLocks noGrp="1"/>
          </p:cNvSpPr>
          <p:nvPr/>
        </p:nvSpPr>
        <p:spPr>
          <a:xfrm>
            <a:off x="4686300" y="350520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AB8AA4-7D70-4E61-8724-7DD3B34AF5BC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476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A5F3BA-1309-4DA4-BE1C-39E56CCB0DFD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存储 dtype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559C9-FB0E-472E-843F-286D51762880}"/>
              </a:ext>
            </a:extLst>
          </p:cNvPr>
          <p:cNvSpPr>
            <a:spLocks noGrp="1"/>
          </p:cNvSpPr>
          <p:nvPr/>
        </p:nvSpPr>
        <p:spPr>
          <a:xfrm>
            <a:off x="5257800" y="3314700"/>
            <a:ext cx="1809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bf16 ≈ 2 bytes</a:t>
            </a:r>
          </a:p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fp8 ≈ 1 byte</a:t>
            </a:r>
          </a:p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int4 ≈ 0.5 byte</a:t>
            </a:r>
          </a:p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+ scale/zero 元数据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8162FE-B7A3-40B3-89AC-D5E8B6F3CE02}"/>
              </a:ext>
            </a:extLst>
          </p:cNvPr>
          <p:cNvSpPr>
            <a:spLocks noGrp="1"/>
          </p:cNvSpPr>
          <p:nvPr/>
        </p:nvSpPr>
        <p:spPr>
          <a:xfrm>
            <a:off x="7524750" y="3552825"/>
            <a:ext cx="85725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E4933024-DF67-4782-BACC-3E096AA87450}"/>
              </a:ext>
            </a:extLst>
          </p:cNvPr>
          <p:cNvSpPr>
            <a:spLocks noGrp="1"/>
          </p:cNvSpPr>
          <p:nvPr/>
        </p:nvSpPr>
        <p:spPr>
          <a:xfrm>
            <a:off x="8305800" y="350520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6919DF-54CD-4188-AF64-C684855E4C92}"/>
              </a:ext>
            </a:extLst>
          </p:cNvPr>
          <p:cNvSpPr>
            <a:spLocks noGrp="1"/>
          </p:cNvSpPr>
          <p:nvPr/>
        </p:nvSpPr>
        <p:spPr>
          <a:xfrm>
            <a:off x="8572500" y="2571750"/>
            <a:ext cx="2857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1A3FE6-A2E6-4AB8-A801-9F0B4C985793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并行切分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5534E6-CBBC-415C-B021-7EA37D4F78B9}"/>
              </a:ext>
            </a:extLst>
          </p:cNvPr>
          <p:cNvSpPr>
            <a:spLocks noGrp="1"/>
          </p:cNvSpPr>
          <p:nvPr/>
        </p:nvSpPr>
        <p:spPr>
          <a:xfrm>
            <a:off x="8877300" y="3314700"/>
            <a:ext cx="2190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非专家：通常按 TP 切</a:t>
            </a:r>
          </a:p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专家：EP 时按 TP × DP 切</a:t>
            </a:r>
          </a:p>
          <a:p>
            <a:pPr algn="l">
              <a:def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PP 固定为 1 时不再切层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F4B027-EDA4-458D-8F30-518E469D4CBF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400050"/>
          </a:xfrm>
          <a:prstGeom prst="rect">
            <a:avLst/>
          </a:prstGeom>
          <a:solidFill>
            <a:srgbClr val="EA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F6FE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F6FED"/>
                </a:solidFill>
                <a:latin typeface="Consolas"/>
                <a:ea typeface="Consolas"/>
                <a:cs typeface="Consolas"/>
              </a:rPr>
              <a:t>weights/GPU = non_expert / TP + expert / (TP × DP)   // EP=true</a:t>
            </a:r>
          </a:p>
        </p:txBody>
      </p:sp>
    </p:spTree>
    <p:extLst>
      <p:ext uri="{BB962C8B-B14F-4D97-AF65-F5344CB8AC3E}">
        <p14:creationId xmlns:p14="http://schemas.microsoft.com/office/powerpoint/2010/main" val="146362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E021CD7-E2A3-42B6-823C-0C52EB25F2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85B6D62-C1C8-4439-A637-C7B0D42BB02E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0A883-A367-4344-9740-F885C5093384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KV Cache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ECF015-9CE1-485E-A1EC-E564E945C831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57DE4-FE6C-4DF6-9A0E-EA15350CD0D0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KV cache 往往决定最大上下文长度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530A96-DBC3-4C65-930C-E9FB287E5933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它和 token 预算线性相关，也会受 TP、KV heads、MLA 压缩影响。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0E268E-642C-4D1D-A0ED-F83033287BBB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4953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95E786-318B-40CF-A17A-941EF5382503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标准 KV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12DDB4-106E-44EB-9F43-E2787C936466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390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per_token_per_layer =</a:t>
            </a:r>
          </a:p>
          <a:p>
            <a:pPr algn="l">
              <a:defRPr sz="172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2 × local_kv_heads × head_dim × bytes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CE5631-135F-47E4-887B-DD25B5AEF161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total = tokens × local_layers × per_token_per_layer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0CB1BF-72F4-4E17-B8A2-01C76B9D01AA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4572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CD9BFC-2A63-47E4-A1F4-56A74795BCEC}"/>
              </a:ext>
            </a:extLst>
          </p:cNvPr>
          <p:cNvSpPr>
            <a:spLocks noGrp="1"/>
          </p:cNvSpPr>
          <p:nvPr/>
        </p:nvSpPr>
        <p:spPr>
          <a:xfrm>
            <a:off x="6781800" y="2800350"/>
            <a:ext cx="302493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 dirty="0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MLA / compressed KV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5D4748-5A0E-41ED-AFA3-3DC9D6DDB80A}"/>
              </a:ext>
            </a:extLst>
          </p:cNvPr>
          <p:cNvSpPr>
            <a:spLocks noGrp="1"/>
          </p:cNvSpPr>
          <p:nvPr/>
        </p:nvSpPr>
        <p:spPr>
          <a:xfrm>
            <a:off x="6781800" y="3276600"/>
            <a:ext cx="361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cache_dim = kv_lora_rank + qk_rope_head_dim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410C19-8820-4134-8BE2-5AAF40979D34}"/>
              </a:ext>
            </a:extLst>
          </p:cNvPr>
          <p:cNvSpPr>
            <a:spLocks noGrp="1"/>
          </p:cNvSpPr>
          <p:nvPr/>
        </p:nvSpPr>
        <p:spPr>
          <a:xfrm>
            <a:off x="6781800" y="3943350"/>
            <a:ext cx="342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OpenPangu / GLM 这类模型不能按普通 KV 公式，否则会严重高估。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02C78A-E959-4560-8FF2-CE6198168518}"/>
              </a:ext>
            </a:extLst>
          </p:cNvPr>
          <p:cNvSpPr>
            <a:spLocks noGrp="1"/>
          </p:cNvSpPr>
          <p:nvPr/>
        </p:nvSpPr>
        <p:spPr>
          <a:xfrm>
            <a:off x="2476500" y="5381625"/>
            <a:ext cx="6858000" cy="419100"/>
          </a:xfrm>
          <a:prstGeom prst="rect">
            <a:avLst/>
          </a:prstGeom>
          <a:solidFill>
            <a:srgbClr val="12A594"/>
          </a:solidFill>
          <a:ln w="9525">
            <a:solidFill>
              <a:srgbClr val="12A59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41AEDE-3D44-4600-A45F-0809636DDCFB}"/>
              </a:ext>
            </a:extLst>
          </p:cNvPr>
          <p:cNvSpPr>
            <a:spLocks noGrp="1"/>
          </p:cNvSpPr>
          <p:nvPr/>
        </p:nvSpPr>
        <p:spPr>
          <a:xfrm>
            <a:off x="2552700" y="5410200"/>
            <a:ext cx="670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max_num_batched_tokens 会直接控制预留 token budget</a:t>
            </a:r>
          </a:p>
        </p:txBody>
      </p:sp>
    </p:spTree>
    <p:extLst>
      <p:ext uri="{BB962C8B-B14F-4D97-AF65-F5344CB8AC3E}">
        <p14:creationId xmlns:p14="http://schemas.microsoft.com/office/powerpoint/2010/main" val="8041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807A444-0DC0-469A-BB19-4CE72A039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E4DDD31-BA78-4F20-B460-00CF221D56C0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53AFE7-EE31-47E0-BE26-7F45B0E495E7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MoE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3F990D-552B-43E5-A6AD-BF0690971FAF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DAD376-42BE-4785-9C27-BF51ED481FDF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MoE 的 active 参数不等于权重显存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C88479-8854-4D9C-BCF1-D85D977061D0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A3B 表示每个 token 激活约 3B 参数，但显存里仍要常驻本 rank 持有的专家权重。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22AECC-0B02-4CF3-95DD-408A6694397A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4857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7717A7-9F39-42ED-9CBD-BBF08455C85B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参数量拆分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91502E-CF8A-4AC7-8E56-DB46E535E89D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2857500" cy="24765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1AA62B-9499-420E-B79F-7BE9C0358B4E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514350" cy="247650"/>
          </a:xfrm>
          <a:prstGeom prst="rect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38EB14-873F-4EC2-8A02-F1E721111703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非专家层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C0AA9F-1BEC-4363-9E9E-268328AE5BD1}"/>
              </a:ext>
            </a:extLst>
          </p:cNvPr>
          <p:cNvSpPr>
            <a:spLocks noGrp="1"/>
          </p:cNvSpPr>
          <p:nvPr/>
        </p:nvSpPr>
        <p:spPr>
          <a:xfrm>
            <a:off x="4267200" y="3676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attention / router / shared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D091CA-4B79-4219-9BB0-185D9E8F27A6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2857500" cy="24765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FBA0E-1CEE-4B71-BA2C-8D9DBCCCA32C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2343150" cy="2476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E32517-2718-4670-9EE5-916162C11494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专家层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F22F87-4A92-48B2-9D14-F907DF3A59BD}"/>
              </a:ext>
            </a:extLst>
          </p:cNvPr>
          <p:cNvSpPr>
            <a:spLocks noGrp="1"/>
          </p:cNvSpPr>
          <p:nvPr/>
        </p:nvSpPr>
        <p:spPr>
          <a:xfrm>
            <a:off x="4267200" y="4438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routed experts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B195A6-B6E2-492B-8607-C024D4668018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000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88E9C0-79BF-45CA-9AA1-C32164DA0BFE}"/>
              </a:ext>
            </a:extLst>
          </p:cNvPr>
          <p:cNvSpPr>
            <a:spLocks noGrp="1"/>
          </p:cNvSpPr>
          <p:nvPr/>
        </p:nvSpPr>
        <p:spPr>
          <a:xfrm>
            <a:off x="6896100" y="28765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两个口径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5F6577-7379-4D84-A142-5F1CCB117704}"/>
              </a:ext>
            </a:extLst>
          </p:cNvPr>
          <p:cNvSpPr>
            <a:spLocks noGrp="1"/>
          </p:cNvSpPr>
          <p:nvPr/>
        </p:nvSpPr>
        <p:spPr>
          <a:xfrm>
            <a:off x="7105650" y="35052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active/token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966151-9EC3-443B-97B7-57F652C29C8C}"/>
              </a:ext>
            </a:extLst>
          </p:cNvPr>
          <p:cNvSpPr>
            <a:spLocks noGrp="1"/>
          </p:cNvSpPr>
          <p:nvPr/>
        </p:nvSpPr>
        <p:spPr>
          <a:xfrm>
            <a:off x="7105650" y="37909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推理计算量近似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9E852-C5E2-4AB5-83C1-B42BD076897E}"/>
              </a:ext>
            </a:extLst>
          </p:cNvPr>
          <p:cNvSpPr>
            <a:spLocks noGrp="1"/>
          </p:cNvSpPr>
          <p:nvPr/>
        </p:nvSpPr>
        <p:spPr>
          <a:xfrm>
            <a:off x="7105650" y="43434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rPr>
              <a:t>resident weights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5ABEC8-2007-484F-A37B-96F9C3F0705D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决定部署显存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639212-3313-4A2E-86C8-04E15992AD67}"/>
              </a:ext>
            </a:extLst>
          </p:cNvPr>
          <p:cNvSpPr>
            <a:spLocks noGrp="1"/>
          </p:cNvSpPr>
          <p:nvPr/>
        </p:nvSpPr>
        <p:spPr>
          <a:xfrm>
            <a:off x="1143000" y="5829300"/>
            <a:ext cx="952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工具会同时输出 total params、expert/non-expert 与 active/token。</a:t>
            </a:r>
          </a:p>
        </p:txBody>
      </p:sp>
    </p:spTree>
    <p:extLst>
      <p:ext uri="{BB962C8B-B14F-4D97-AF65-F5344CB8AC3E}">
        <p14:creationId xmlns:p14="http://schemas.microsoft.com/office/powerpoint/2010/main" val="112687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4AE56787-3880-4850-B1AF-EE5053EF11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D98D575-BA66-48B7-91BF-C53215E132CA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4CD897-FC0B-4434-BFCD-47006155E4AE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并行策略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7C821A-BEC5-4F51-8348-F34E8D812A5F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46C65F-51D8-4807-8C03-915D268506CE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并行方式</a:t>
            </a:r>
            <a:endParaRPr sz="300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09A5EE-A8B0-4762-BB06-DFE313E27C2F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同一个模型，TP/DP/EP 的选择会让权重、KV、吞吐侧重点完全不同。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C26AFC-D7F1-44CD-BC76-93B2D7896AF6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1104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F5B99D-91BD-4830-AA2A-05D991F656C5}"/>
              </a:ext>
            </a:extLst>
          </p:cNvPr>
          <p:cNvSpPr>
            <a:spLocks noGrp="1"/>
          </p:cNvSpPr>
          <p:nvPr/>
        </p:nvSpPr>
        <p:spPr>
          <a:xfrm>
            <a:off x="2076450" y="2590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TP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B4B9A8-C9F6-4392-809D-E9EF48D59B7C}"/>
              </a:ext>
            </a:extLst>
          </p:cNvPr>
          <p:cNvSpPr>
            <a:spLocks noGrp="1"/>
          </p:cNvSpPr>
          <p:nvPr/>
        </p:nvSpPr>
        <p:spPr>
          <a:xfrm>
            <a:off x="4457700" y="2590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DP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86EB03-99D2-4DDE-ADC1-8B78D99ABFC0}"/>
              </a:ext>
            </a:extLst>
          </p:cNvPr>
          <p:cNvSpPr>
            <a:spLocks noGrp="1"/>
          </p:cNvSpPr>
          <p:nvPr/>
        </p:nvSpPr>
        <p:spPr>
          <a:xfrm>
            <a:off x="6838950" y="2590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rPr>
              <a:t>EP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EA41D1-D8BA-4549-A92B-A59C9497B024}"/>
              </a:ext>
            </a:extLst>
          </p:cNvPr>
          <p:cNvSpPr>
            <a:spLocks noGrp="1"/>
          </p:cNvSpPr>
          <p:nvPr/>
        </p:nvSpPr>
        <p:spPr>
          <a:xfrm>
            <a:off x="9220200" y="2590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dirty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9F6F42-D890-45F6-97CF-03180EB9345C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切什么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74014E-656F-4B4F-AC1C-B8C06507293A}"/>
              </a:ext>
            </a:extLst>
          </p:cNvPr>
          <p:cNvSpPr>
            <a:spLocks noGrp="1"/>
          </p:cNvSpPr>
          <p:nvPr/>
        </p:nvSpPr>
        <p:spPr>
          <a:xfrm>
            <a:off x="2076450" y="30861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矩阵 / attention heads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EE1160-C716-4DB8-A09F-08A7BEBB5BB1}"/>
              </a:ext>
            </a:extLst>
          </p:cNvPr>
          <p:cNvSpPr>
            <a:spLocks noGrp="1"/>
          </p:cNvSpPr>
          <p:nvPr/>
        </p:nvSpPr>
        <p:spPr>
          <a:xfrm>
            <a:off x="4457700" y="30861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请求副本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89A8AE-ADFF-4B68-93FD-7B60913752DC}"/>
              </a:ext>
            </a:extLst>
          </p:cNvPr>
          <p:cNvSpPr>
            <a:spLocks noGrp="1"/>
          </p:cNvSpPr>
          <p:nvPr/>
        </p:nvSpPr>
        <p:spPr>
          <a:xfrm>
            <a:off x="6838950" y="30861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MoE experts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CAF397-3DF7-4346-9159-4F60399B53CD}"/>
              </a:ext>
            </a:extLst>
          </p:cNvPr>
          <p:cNvSpPr>
            <a:spLocks noGrp="1"/>
          </p:cNvSpPr>
          <p:nvPr/>
        </p:nvSpPr>
        <p:spPr>
          <a:xfrm>
            <a:off x="9220200" y="30861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05B90D-11F8-469F-9B9A-A2C5AAEB45B8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权重影响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034D52-F777-43DA-B05B-2903CA1ADD6A}"/>
              </a:ext>
            </a:extLst>
          </p:cNvPr>
          <p:cNvSpPr>
            <a:spLocks noGrp="1"/>
          </p:cNvSpPr>
          <p:nvPr/>
        </p:nvSpPr>
        <p:spPr>
          <a:xfrm>
            <a:off x="2076450" y="37909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非专家和专家都下降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FA835E-9E60-4213-9D6F-CE4E0CA897F2}"/>
              </a:ext>
            </a:extLst>
          </p:cNvPr>
          <p:cNvSpPr>
            <a:spLocks noGrp="1"/>
          </p:cNvSpPr>
          <p:nvPr/>
        </p:nvSpPr>
        <p:spPr>
          <a:xfrm>
            <a:off x="4457700" y="37909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非 EP 时不降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E09086-9B05-4C03-A951-9884D5125A49}"/>
              </a:ext>
            </a:extLst>
          </p:cNvPr>
          <p:cNvSpPr>
            <a:spLocks noGrp="1"/>
          </p:cNvSpPr>
          <p:nvPr/>
        </p:nvSpPr>
        <p:spPr>
          <a:xfrm>
            <a:off x="6838950" y="37909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专家随 DP 分摊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6D1A05-A506-492C-8811-97FBFF5324A9}"/>
              </a:ext>
            </a:extLst>
          </p:cNvPr>
          <p:cNvSpPr>
            <a:spLocks noGrp="1"/>
          </p:cNvSpPr>
          <p:nvPr/>
        </p:nvSpPr>
        <p:spPr>
          <a:xfrm>
            <a:off x="9220200" y="37909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本工具建议固定 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718B10-E6B2-41D4-80F2-F19D2AFF4B53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KV 影响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430AD00-B2A9-4CFF-9185-A6D665EC0710}"/>
              </a:ext>
            </a:extLst>
          </p:cNvPr>
          <p:cNvSpPr>
            <a:spLocks noGrp="1"/>
          </p:cNvSpPr>
          <p:nvPr/>
        </p:nvSpPr>
        <p:spPr>
          <a:xfrm>
            <a:off x="2076450" y="44958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local KV heads 下降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9CEA3E-1D52-4111-B777-C3A41F9D4A1A}"/>
              </a:ext>
            </a:extLst>
          </p:cNvPr>
          <p:cNvSpPr>
            <a:spLocks noGrp="1"/>
          </p:cNvSpPr>
          <p:nvPr/>
        </p:nvSpPr>
        <p:spPr>
          <a:xfrm>
            <a:off x="4457700" y="44958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每个副本独立 KV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DC8759-9C4B-44F8-A8C8-6A7E3B430D73}"/>
              </a:ext>
            </a:extLst>
          </p:cNvPr>
          <p:cNvSpPr>
            <a:spLocks noGrp="1"/>
          </p:cNvSpPr>
          <p:nvPr/>
        </p:nvSpPr>
        <p:spPr>
          <a:xfrm>
            <a:off x="6838950" y="44958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通常无直接影响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C1FC58-0AE1-4BCD-845D-9329105D2DA4}"/>
              </a:ext>
            </a:extLst>
          </p:cNvPr>
          <p:cNvSpPr>
            <a:spLocks noGrp="1"/>
          </p:cNvSpPr>
          <p:nvPr/>
        </p:nvSpPr>
        <p:spPr>
          <a:xfrm>
            <a:off x="9220200" y="44958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local layers 下降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E23512-50C4-4814-A4A9-0E75D0BE57D9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常见用途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5CE47A-790E-4907-ABAE-1E188A632375}"/>
              </a:ext>
            </a:extLst>
          </p:cNvPr>
          <p:cNvSpPr>
            <a:spLocks noGrp="1"/>
          </p:cNvSpPr>
          <p:nvPr/>
        </p:nvSpPr>
        <p:spPr>
          <a:xfrm>
            <a:off x="2076450" y="52006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放下大模型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987E39-AA1C-4977-9DFB-7486B9639627}"/>
              </a:ext>
            </a:extLst>
          </p:cNvPr>
          <p:cNvSpPr>
            <a:spLocks noGrp="1"/>
          </p:cNvSpPr>
          <p:nvPr/>
        </p:nvSpPr>
        <p:spPr>
          <a:xfrm>
            <a:off x="4457700" y="52006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提高吞吐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77312F1-3A93-4815-9A7A-0DB497164424}"/>
              </a:ext>
            </a:extLst>
          </p:cNvPr>
          <p:cNvSpPr>
            <a:spLocks noGrp="1"/>
          </p:cNvSpPr>
          <p:nvPr/>
        </p:nvSpPr>
        <p:spPr>
          <a:xfrm>
            <a:off x="6838950" y="52006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放下 MoE 专家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77E8A0D-1FF9-48D0-B807-B6D93DCFB1A6}"/>
              </a:ext>
            </a:extLst>
          </p:cNvPr>
          <p:cNvSpPr>
            <a:spLocks noGrp="1"/>
          </p:cNvSpPr>
          <p:nvPr/>
        </p:nvSpPr>
        <p:spPr>
          <a:xfrm>
            <a:off x="9220200" y="52006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跨机流水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18AA1E-96E7-4D57-AC0C-C67327C1165F}"/>
              </a:ext>
            </a:extLst>
          </p:cNvPr>
          <p:cNvSpPr>
            <a:spLocks noGrp="1"/>
          </p:cNvSpPr>
          <p:nvPr/>
        </p:nvSpPr>
        <p:spPr>
          <a:xfrm>
            <a:off x="857250" y="6115050"/>
            <a:ext cx="1028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实践建议：先用 TP/EP 让权重 fit，再看 KV cache 是否限制上下文；PP 在当前工具示例中按 1 处理。</a:t>
            </a:r>
          </a:p>
        </p:txBody>
      </p:sp>
    </p:spTree>
    <p:extLst>
      <p:ext uri="{BB962C8B-B14F-4D97-AF65-F5344CB8AC3E}">
        <p14:creationId xmlns:p14="http://schemas.microsoft.com/office/powerpoint/2010/main" val="40114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4469333-5D11-4520-809E-506E85F5AF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72EA563-285D-4265-BB0A-65590A2E13F8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17DC0B-8197-49FC-AB3C-7C402A96982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vLLM 预分配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4EB37D-304F-4834-A8B5-7605390AB229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B17D29-00F6-4550-803E-E4C4F232928C}"/>
              </a:ext>
            </a:extLst>
          </p:cNvPr>
          <p:cNvSpPr>
            <a:spLocks noGrp="1"/>
          </p:cNvSpPr>
          <p:nvPr/>
        </p:nvSpPr>
        <p:spPr>
          <a:xfrm>
            <a:off x="476249" y="819150"/>
            <a:ext cx="8181189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vLLM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会先确定可用预算，再预留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KV cache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C4BE71-861C-468D-8961-0F8D1B4463A6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因此 max_model_len、max_num_seqs、max_num_batched_tokens 会直接改变启动时显存。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730EAE-7A32-4F06-BC05-00C1CA23F04B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049E90-41D6-4EFC-A1A8-314E8492A71B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加载模型权重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451FC6-5DD7-4DCF-AA5D-CFDA6192E530}"/>
              </a:ext>
            </a:extLst>
          </p:cNvPr>
          <p:cNvSpPr>
            <a:spLocks noGrp="1"/>
          </p:cNvSpPr>
          <p:nvPr/>
        </p:nvSpPr>
        <p:spPr>
          <a:xfrm>
            <a:off x="1009650" y="34290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weights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994F34-5447-41CA-9D3C-29F1B7B86118}"/>
              </a:ext>
            </a:extLst>
          </p:cNvPr>
          <p:cNvSpPr>
            <a:spLocks noGrp="1"/>
          </p:cNvSpPr>
          <p:nvPr/>
        </p:nvSpPr>
        <p:spPr>
          <a:xfrm>
            <a:off x="3009900" y="3381375"/>
            <a:ext cx="428625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CBE230BA-AB1E-4A4E-B6B1-2472686D80AF}"/>
              </a:ext>
            </a:extLst>
          </p:cNvPr>
          <p:cNvSpPr>
            <a:spLocks noGrp="1"/>
          </p:cNvSpPr>
          <p:nvPr/>
        </p:nvSpPr>
        <p:spPr>
          <a:xfrm>
            <a:off x="3362325" y="333375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DC73AE-BC4E-4CF6-B876-46200468868F}"/>
              </a:ext>
            </a:extLst>
          </p:cNvPr>
          <p:cNvSpPr>
            <a:spLocks noGrp="1"/>
          </p:cNvSpPr>
          <p:nvPr/>
        </p:nvSpPr>
        <p:spPr>
          <a:xfrm>
            <a:off x="3533775" y="27622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3B8C1D-653B-4491-A833-86EF07DAD0F6}"/>
              </a:ext>
            </a:extLst>
          </p:cNvPr>
          <p:cNvSpPr>
            <a:spLocks noGrp="1"/>
          </p:cNvSpPr>
          <p:nvPr/>
        </p:nvSpPr>
        <p:spPr>
          <a:xfrm>
            <a:off x="3724275" y="29908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profile / reserve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8295F3-8E65-49AE-89C2-6BF7821D4CC1}"/>
              </a:ext>
            </a:extLst>
          </p:cNvPr>
          <p:cNvSpPr>
            <a:spLocks noGrp="1"/>
          </p:cNvSpPr>
          <p:nvPr/>
        </p:nvSpPr>
        <p:spPr>
          <a:xfrm>
            <a:off x="3724275" y="34290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runtime + activation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F6D266-AEA0-49EB-9BEC-4CAF7BCBC673}"/>
              </a:ext>
            </a:extLst>
          </p:cNvPr>
          <p:cNvSpPr>
            <a:spLocks noGrp="1"/>
          </p:cNvSpPr>
          <p:nvPr/>
        </p:nvSpPr>
        <p:spPr>
          <a:xfrm>
            <a:off x="5724525" y="3381375"/>
            <a:ext cx="428625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66031EA-8C5B-4812-84AD-012CD7EED173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1D93DF-9568-4789-A4D9-9BE2F17A1D27}"/>
              </a:ext>
            </a:extLst>
          </p:cNvPr>
          <p:cNvSpPr>
            <a:spLocks noGrp="1"/>
          </p:cNvSpPr>
          <p:nvPr/>
        </p:nvSpPr>
        <p:spPr>
          <a:xfrm>
            <a:off x="6248400" y="27622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59A524-F2C4-497A-A2C7-BE13F5FC4361}"/>
              </a:ext>
            </a:extLst>
          </p:cNvPr>
          <p:cNvSpPr>
            <a:spLocks noGrp="1"/>
          </p:cNvSpPr>
          <p:nvPr/>
        </p:nvSpPr>
        <p:spPr>
          <a:xfrm>
            <a:off x="6438900" y="29908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计算可用 KV 空间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B39D27-2ED9-4FC4-A5CD-152A8675899B}"/>
              </a:ext>
            </a:extLst>
          </p:cNvPr>
          <p:cNvSpPr>
            <a:spLocks noGrp="1"/>
          </p:cNvSpPr>
          <p:nvPr/>
        </p:nvSpPr>
        <p:spPr>
          <a:xfrm>
            <a:off x="6438900" y="34290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gpu_memory_utilization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8CDA9D-C8BC-4D5A-B4AE-3CBB78020A02}"/>
              </a:ext>
            </a:extLst>
          </p:cNvPr>
          <p:cNvSpPr>
            <a:spLocks noGrp="1"/>
          </p:cNvSpPr>
          <p:nvPr/>
        </p:nvSpPr>
        <p:spPr>
          <a:xfrm>
            <a:off x="8439150" y="3381375"/>
            <a:ext cx="428625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042EFA07-01B6-48D0-90ED-1C443DC147BF}"/>
              </a:ext>
            </a:extLst>
          </p:cNvPr>
          <p:cNvSpPr>
            <a:spLocks noGrp="1"/>
          </p:cNvSpPr>
          <p:nvPr/>
        </p:nvSpPr>
        <p:spPr>
          <a:xfrm>
            <a:off x="8791575" y="333375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2DF03F-61B1-43A6-94DE-9950BB3D4D40}"/>
              </a:ext>
            </a:extLst>
          </p:cNvPr>
          <p:cNvSpPr>
            <a:spLocks noGrp="1"/>
          </p:cNvSpPr>
          <p:nvPr/>
        </p:nvSpPr>
        <p:spPr>
          <a:xfrm>
            <a:off x="8963025" y="27622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83AA7D-18C9-4939-AB4D-1A482E1C5577}"/>
              </a:ext>
            </a:extLst>
          </p:cNvPr>
          <p:cNvSpPr>
            <a:spLocks noGrp="1"/>
          </p:cNvSpPr>
          <p:nvPr/>
        </p:nvSpPr>
        <p:spPr>
          <a:xfrm>
            <a:off x="9153525" y="29908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分配 block cache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6D6570-44D3-4B65-A8E7-B570814D9B92}"/>
              </a:ext>
            </a:extLst>
          </p:cNvPr>
          <p:cNvSpPr>
            <a:spLocks noGrp="1"/>
          </p:cNvSpPr>
          <p:nvPr/>
        </p:nvSpPr>
        <p:spPr>
          <a:xfrm>
            <a:off x="9153525" y="34290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block_size × tokens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BAED32-4DE4-485A-A2C2-A1C56926EC7E}"/>
              </a:ext>
            </a:extLst>
          </p:cNvPr>
          <p:cNvSpPr>
            <a:spLocks noGrp="1"/>
          </p:cNvSpPr>
          <p:nvPr/>
        </p:nvSpPr>
        <p:spPr>
          <a:xfrm>
            <a:off x="1695450" y="4857750"/>
            <a:ext cx="8382000" cy="704850"/>
          </a:xfrm>
          <a:prstGeom prst="rect">
            <a:avLst/>
          </a:prstGeom>
          <a:solidFill>
            <a:srgbClr val="EAF7F4"/>
          </a:solidFill>
          <a:ln w="9525">
            <a:solidFill>
              <a:srgbClr val="B7E4D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6B47FE-DFFE-4598-B03D-C5EFB034F34A}"/>
              </a:ext>
            </a:extLst>
          </p:cNvPr>
          <p:cNvSpPr>
            <a:spLocks noGrp="1"/>
          </p:cNvSpPr>
          <p:nvPr/>
        </p:nvSpPr>
        <p:spPr>
          <a:xfrm>
            <a:off x="2000250" y="5048250"/>
            <a:ext cx="781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如果设置 max_num_batched_tokens，KV 预留优先看这个 token budget；否则通常由 max_model_len × max_num_seqs 推导。</a:t>
            </a:r>
          </a:p>
        </p:txBody>
      </p:sp>
    </p:spTree>
    <p:extLst>
      <p:ext uri="{BB962C8B-B14F-4D97-AF65-F5344CB8AC3E}">
        <p14:creationId xmlns:p14="http://schemas.microsoft.com/office/powerpoint/2010/main" val="77704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A0862B6-71D8-4C47-ACDA-76BA2E51BF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A7E92CF-0A0B-4FCC-92ED-AF4012D588C5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6C4EC4-A268-4F1D-B85B-DBADE55D940F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PD 分离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AC2A3F-17AD-4182-8F62-89EB1CAC4E9C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152A44-6422-428C-9A87-564402CA4532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PD 分离让 P 与 D 节点按不同瓶颈配置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7605BA-E74A-43B7-8613-D96852FD0CD6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Prefill 更关注 prompt 吞吐与 activation，Decode 更关注常驻 KV 与高 DP。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35CF41-4B8A-4D17-9268-52F49AA4CF5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4381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E090B-6B30-4476-88DB-87F6B546A295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Prefill nodes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C02AF7-9E5A-4620-B17D-75EE10F7E4E0}"/>
              </a:ext>
            </a:extLst>
          </p:cNvPr>
          <p:cNvSpPr>
            <a:spLocks noGrp="1"/>
          </p:cNvSpPr>
          <p:nvPr/>
        </p:nvSpPr>
        <p:spPr>
          <a:xfrm>
            <a:off x="1238250" y="3505200"/>
            <a:ext cx="3048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TP 高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max_num_batched_tokens 大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activation_peak 更保守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产生 KV 并发送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F331EE-F489-491E-8B91-E4B5C7E9831F}"/>
              </a:ext>
            </a:extLst>
          </p:cNvPr>
          <p:cNvSpPr>
            <a:spLocks noGrp="1"/>
          </p:cNvSpPr>
          <p:nvPr/>
        </p:nvSpPr>
        <p:spPr>
          <a:xfrm>
            <a:off x="6991350" y="2647950"/>
            <a:ext cx="4381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EEDD94-AE88-44D0-BA75-EFC5DC36116F}"/>
              </a:ext>
            </a:extLst>
          </p:cNvPr>
          <p:cNvSpPr>
            <a:spLocks noGrp="1"/>
          </p:cNvSpPr>
          <p:nvPr/>
        </p:nvSpPr>
        <p:spPr>
          <a:xfrm>
            <a:off x="7372350" y="29718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Decode nodes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2D6FA1-E757-441D-8D41-C7E32EFE441C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2952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DP 高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持续持有 KV cache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单步生成为主</a:t>
            </a:r>
          </a:p>
          <a:p>
            <a:pPr algn="l">
              <a:def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接收 KV 并解码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EFD7ED-BBF7-420F-8527-2E2C7E27FBEE}"/>
              </a:ext>
            </a:extLst>
          </p:cNvPr>
          <p:cNvSpPr>
            <a:spLocks noGrp="1"/>
          </p:cNvSpPr>
          <p:nvPr/>
        </p:nvSpPr>
        <p:spPr>
          <a:xfrm>
            <a:off x="5334000" y="3705225"/>
            <a:ext cx="1447800" cy="190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50D105D3-5824-4613-9AD1-AB4ABE689FB3}"/>
              </a:ext>
            </a:extLst>
          </p:cNvPr>
          <p:cNvSpPr>
            <a:spLocks noGrp="1"/>
          </p:cNvSpPr>
          <p:nvPr/>
        </p:nvSpPr>
        <p:spPr>
          <a:xfrm>
            <a:off x="6705600" y="3657600"/>
            <a:ext cx="114300" cy="114300"/>
          </a:xfrm>
          <a:prstGeom prst="triangle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C4B603-3D2E-449A-A1F2-4B084A2EEA95}"/>
              </a:ext>
            </a:extLst>
          </p:cNvPr>
          <p:cNvSpPr>
            <a:spLocks noGrp="1"/>
          </p:cNvSpPr>
          <p:nvPr/>
        </p:nvSpPr>
        <p:spPr>
          <a:xfrm>
            <a:off x="5448300" y="3238500"/>
            <a:ext cx="1238250" cy="34290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77745D-13AB-42CC-BFFA-2DC60BCC24D9}"/>
              </a:ext>
            </a:extLst>
          </p:cNvPr>
          <p:cNvSpPr>
            <a:spLocks noGrp="1"/>
          </p:cNvSpPr>
          <p:nvPr/>
        </p:nvSpPr>
        <p:spPr>
          <a:xfrm>
            <a:off x="5524500" y="3267075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KV transfer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735ADC-DF07-4CEE-B97E-00F2E895F241}"/>
              </a:ext>
            </a:extLst>
          </p:cNvPr>
          <p:cNvSpPr>
            <a:spLocks noGrp="1"/>
          </p:cNvSpPr>
          <p:nvPr/>
        </p:nvSpPr>
        <p:spPr>
          <a:xfrm>
            <a:off x="1257300" y="56197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工具会分别输出 P/D 两套 per-GPU 显存，并重新计算各自 fit/headroom。</a:t>
            </a:r>
          </a:p>
        </p:txBody>
      </p:sp>
    </p:spTree>
    <p:extLst>
      <p:ext uri="{BB962C8B-B14F-4D97-AF65-F5344CB8AC3E}">
        <p14:creationId xmlns:p14="http://schemas.microsoft.com/office/powerpoint/2010/main" val="54233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B29B8C4-8843-47B8-ACC3-C9EE4E1B5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FE6715D-1F39-4090-85B8-0F649BB195D0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CFF5F9-DAB9-486B-8268-1B4B15749BF1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KV Transfer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C9F9B7-F62C-4EB5-96C2-667416E031E7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A0496-B2A0-4B79-AEC6-48814E346A90}"/>
              </a:ext>
            </a:extLst>
          </p:cNvPr>
          <p:cNvSpPr>
            <a:spLocks noGrp="1"/>
          </p:cNvSpPr>
          <p:nvPr/>
        </p:nvSpPr>
        <p:spPr>
          <a:xfrm>
            <a:off x="476249" y="819150"/>
            <a:ext cx="7845629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PD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还需要显式预留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KV transfer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与通信缓冲</a:t>
            </a:r>
            <a:endParaRPr sz="300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A17992-EA5D-49D7-882A-D52B222C0128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不单独建模时，P/D 总显存会偏乐观。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97603A-9DBD-4AD7-974E-46C1062847B2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4762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75D678-0B29-4C1F-9E31-111DA049C1CA}"/>
              </a:ext>
            </a:extLst>
          </p:cNvPr>
          <p:cNvSpPr>
            <a:spLocks noGrp="1"/>
          </p:cNvSpPr>
          <p:nvPr/>
        </p:nvSpPr>
        <p:spPr>
          <a:xfrm>
            <a:off x="1123950" y="28194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vLLM buffer 模式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0D78CB-D6B5-4076-8CD6-51AB1A72CFE8}"/>
              </a:ext>
            </a:extLst>
          </p:cNvPr>
          <p:cNvSpPr>
            <a:spLocks noGrp="1"/>
          </p:cNvSpPr>
          <p:nvPr/>
        </p:nvSpPr>
        <p:spPr>
          <a:xfrm>
            <a:off x="1123950" y="339090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kv_transfer/GPU = kv_buffer_size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74C85-929C-4E2C-816B-1FE83CF0A60A}"/>
              </a:ext>
            </a:extLst>
          </p:cNvPr>
          <p:cNvSpPr>
            <a:spLocks noGrp="1"/>
          </p:cNvSpPr>
          <p:nvPr/>
        </p:nvSpPr>
        <p:spPr>
          <a:xfrm>
            <a:off x="1123950" y="4000500"/>
            <a:ext cx="3524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默认按 KVTransferConfig 的 1e9 bytes，即约 0.93 GiB/GPU。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7B8688-4D7F-4B06-8E5B-3F87B83928BA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4762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74A134-9D54-40EF-8B9F-D4B72893B81C}"/>
              </a:ext>
            </a:extLst>
          </p:cNvPr>
          <p:cNvSpPr>
            <a:spLocks noGrp="1"/>
          </p:cNvSpPr>
          <p:nvPr/>
        </p:nvSpPr>
        <p:spPr>
          <a:xfrm>
            <a:off x="6819900" y="2819400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payload 模式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244AF7-619D-4A5C-8F98-585424A29F8D}"/>
              </a:ext>
            </a:extLst>
          </p:cNvPr>
          <p:cNvSpPr>
            <a:spLocks noGrp="1"/>
          </p:cNvSpPr>
          <p:nvPr/>
        </p:nvSpPr>
        <p:spPr>
          <a:xfrm>
            <a:off x="6819900" y="339090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tokens × bytes_per_token × buffer_factor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562F03-7B7E-46FB-8334-1DDC2DB06C2B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3524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适合按一次搬运 KV payload、双缓冲或 connector staging 做更保守估算。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BEDEF-1DF8-41AF-8BCF-9CD1BC968087}"/>
              </a:ext>
            </a:extLst>
          </p:cNvPr>
          <p:cNvSpPr>
            <a:spLocks noGrp="1"/>
          </p:cNvSpPr>
          <p:nvPr/>
        </p:nvSpPr>
        <p:spPr>
          <a:xfrm>
            <a:off x="1466850" y="581025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rPr>
              <a:t>comm_buffer/GPU 可额外预留 HCCL / NCCL / NIC / connector workspace。</a:t>
            </a:r>
          </a:p>
        </p:txBody>
      </p:sp>
    </p:spTree>
    <p:extLst>
      <p:ext uri="{BB962C8B-B14F-4D97-AF65-F5344CB8AC3E}">
        <p14:creationId xmlns:p14="http://schemas.microsoft.com/office/powerpoint/2010/main" val="19894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F04CC95-2E70-4BF2-9F78-E5C9129030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60DE7C2-CDDE-41B5-93E1-CCA1F14CBDAC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BA679E-7AF2-4973-BEC3-78DD083DD1BA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工具设计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12E199-9CEE-4C01-83C9-85CCE377FAAE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AF4B43-3063-483D-8BE5-967ABE090E9A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工具把模型 config 和部署参数变成可解释报告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B0E0A4-5502-4F4E-8A6A-BEF2FB2D3B4F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重点不是只给 total，而是把每张卡每一部分拆出来。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F1FAB3-04BE-4CF4-97F6-3BDB18414CF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2190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9B506C-E624-4E64-A1AA-471D16876AAE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模型配置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B86FD7-516E-4822-A2A0-B04E77AD106A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1771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config.json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text_config / vision_config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MoE / MLA / quant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E83546-A119-475C-9F5E-6E30815A67F1}"/>
              </a:ext>
            </a:extLst>
          </p:cNvPr>
          <p:cNvSpPr>
            <a:spLocks noGrp="1"/>
          </p:cNvSpPr>
          <p:nvPr/>
        </p:nvSpPr>
        <p:spPr>
          <a:xfrm>
            <a:off x="2933700" y="3743325"/>
            <a:ext cx="4572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15EC5ECB-4418-4670-80FB-2AAC1FC60E99}"/>
              </a:ext>
            </a:extLst>
          </p:cNvPr>
          <p:cNvSpPr>
            <a:spLocks noGrp="1"/>
          </p:cNvSpPr>
          <p:nvPr/>
        </p:nvSpPr>
        <p:spPr>
          <a:xfrm>
            <a:off x="3314700" y="369570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787483-D369-4379-866D-5EC2D79FCE40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2190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BB20AA-3E74-4AF0-865E-F61D7CF1FB8C}"/>
              </a:ext>
            </a:extLst>
          </p:cNvPr>
          <p:cNvSpPr>
            <a:spLocks noGrp="1"/>
          </p:cNvSpPr>
          <p:nvPr/>
        </p:nvSpPr>
        <p:spPr>
          <a:xfrm>
            <a:off x="3714750" y="3124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A594"/>
                </a:solidFill>
                <a:latin typeface="Microsoft YaHei UI"/>
                <a:ea typeface="Microsoft YaHei UI"/>
                <a:cs typeface="Microsoft YaHei UI"/>
              </a:rPr>
              <a:t>部署配置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6630F4-EE94-4641-AB13-B07A6ECE52A5}"/>
              </a:ext>
            </a:extLst>
          </p:cNvPr>
          <p:cNvSpPr>
            <a:spLocks noGrp="1"/>
          </p:cNvSpPr>
          <p:nvPr/>
        </p:nvSpPr>
        <p:spPr>
          <a:xfrm>
            <a:off x="3733800" y="3619500"/>
            <a:ext cx="1771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tp / dp / ep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max_model_len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PD prefill/decode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9245C7-D178-4B82-97B0-F3BEFE6EC449}"/>
              </a:ext>
            </a:extLst>
          </p:cNvPr>
          <p:cNvSpPr>
            <a:spLocks noGrp="1"/>
          </p:cNvSpPr>
          <p:nvPr/>
        </p:nvSpPr>
        <p:spPr>
          <a:xfrm>
            <a:off x="5791200" y="3743325"/>
            <a:ext cx="4572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543F7359-0A25-4B7D-9125-83D02CD8FE4C}"/>
              </a:ext>
            </a:extLst>
          </p:cNvPr>
          <p:cNvSpPr>
            <a:spLocks noGrp="1"/>
          </p:cNvSpPr>
          <p:nvPr/>
        </p:nvSpPr>
        <p:spPr>
          <a:xfrm>
            <a:off x="6172200" y="369570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04BCA6-E9B7-42AF-9333-A9A2293C6EA7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2190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D82055-382C-4E27-882E-B19EEF33B633}"/>
              </a:ext>
            </a:extLst>
          </p:cNvPr>
          <p:cNvSpPr>
            <a:spLocks noGrp="1"/>
          </p:cNvSpPr>
          <p:nvPr/>
        </p:nvSpPr>
        <p:spPr>
          <a:xfrm>
            <a:off x="6572250" y="3124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F2A54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A541"/>
                </a:solidFill>
                <a:latin typeface="Microsoft YaHei UI"/>
                <a:ea typeface="Microsoft YaHei UI"/>
                <a:cs typeface="Microsoft YaHei UI"/>
              </a:rPr>
              <a:t>估算核心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2BA957-671A-4DCD-86C5-83A6A8F16188}"/>
              </a:ext>
            </a:extLst>
          </p:cNvPr>
          <p:cNvSpPr>
            <a:spLocks noGrp="1"/>
          </p:cNvSpPr>
          <p:nvPr/>
        </p:nvSpPr>
        <p:spPr>
          <a:xfrm>
            <a:off x="6591300" y="3619500"/>
            <a:ext cx="1771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params.py</a:t>
            </a:r>
          </a:p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memory.py</a:t>
            </a:r>
          </a:p>
          <a:p>
            <a:pPr algn="ctr"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scenarios/pd.py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AE346F-A7CD-484C-9BCA-F5C9B8532C99}"/>
              </a:ext>
            </a:extLst>
          </p:cNvPr>
          <p:cNvSpPr>
            <a:spLocks noGrp="1"/>
          </p:cNvSpPr>
          <p:nvPr/>
        </p:nvSpPr>
        <p:spPr>
          <a:xfrm>
            <a:off x="8648700" y="3743325"/>
            <a:ext cx="457200" cy="19050"/>
          </a:xfrm>
          <a:prstGeom prst="rect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5F3CD2C2-12D4-449F-A349-184F7A2D11C3}"/>
              </a:ext>
            </a:extLst>
          </p:cNvPr>
          <p:cNvSpPr>
            <a:spLocks noGrp="1"/>
          </p:cNvSpPr>
          <p:nvPr/>
        </p:nvSpPr>
        <p:spPr>
          <a:xfrm>
            <a:off x="9029700" y="3695700"/>
            <a:ext cx="114300" cy="114300"/>
          </a:xfrm>
          <a:prstGeom prst="triangle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4DACDC-E428-4868-BB85-C881B39DF743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2190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E51313-7599-4777-B6B3-2FE51BAAE8C6}"/>
              </a:ext>
            </a:extLst>
          </p:cNvPr>
          <p:cNvSpPr>
            <a:spLocks noGrp="1"/>
          </p:cNvSpPr>
          <p:nvPr/>
        </p:nvSpPr>
        <p:spPr>
          <a:xfrm>
            <a:off x="9429750" y="3124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0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76F51"/>
                </a:solidFill>
                <a:latin typeface="Microsoft YaHei UI"/>
                <a:ea typeface="Microsoft YaHei UI"/>
                <a:cs typeface="Microsoft YaHei UI"/>
              </a:rPr>
              <a:t>输出报告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9219BC-E960-4B46-96B8-9BEC912AE1B1}"/>
              </a:ext>
            </a:extLst>
          </p:cNvPr>
          <p:cNvSpPr>
            <a:spLocks noGrp="1"/>
          </p:cNvSpPr>
          <p:nvPr/>
        </p:nvSpPr>
        <p:spPr>
          <a:xfrm>
            <a:off x="9448800" y="3619500"/>
            <a:ext cx="1771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per_gpu_gib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breakdown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fit / headroom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CA513B-2156-4C55-B6C8-113734C973B0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096500" cy="32385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命令示例：python3 vllm_vram_estimator.py --model qwen3.5-35b-a3b --max-context</a:t>
            </a:r>
          </a:p>
        </p:txBody>
      </p:sp>
    </p:spTree>
    <p:extLst>
      <p:ext uri="{BB962C8B-B14F-4D97-AF65-F5344CB8AC3E}">
        <p14:creationId xmlns:p14="http://schemas.microsoft.com/office/powerpoint/2010/main" val="2602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5F53419-C483-4646-8D5E-081864F0D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444B299-3B5E-4A78-B613-A42519A80AA2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74C04D-722A-4D7F-99E8-D9399F00F092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示例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113965-4467-4C2A-AACC-D764D216A39C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B317C-3935-4548-B439-07477FB06605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1123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OpenPangu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1P1D </a:t>
            </a:r>
            <a:r>
              <a:rPr sz="300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示例：显存瓶颈会暴露在</a:t>
            </a:r>
            <a:r>
              <a:rPr sz="3000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breakdown 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9188A5-B9F3-4677-B8EC-B865C6A1B4BD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 dirty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在 64GiB 卡、0.9 utilization </a:t>
            </a:r>
            <a:r>
              <a:rPr sz="1500" b="0" dirty="0" err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下，P</a:t>
            </a:r>
            <a:r>
              <a:rPr sz="1500" b="0" dirty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sz="1500" b="0" dirty="0" err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侧因为</a:t>
            </a:r>
            <a:r>
              <a:rPr sz="1500" b="0" dirty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 KV + activation + transfer </a:t>
            </a:r>
            <a:r>
              <a:rPr sz="1500" b="0" dirty="0" err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超预算</a:t>
            </a:r>
            <a:r>
              <a:rPr sz="1500" b="0" dirty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3AD865-6BBA-4026-BD30-1634C18D7771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49530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BE7092-3422-4E32-9057-2799470DF46E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F6FED"/>
                </a:solidFill>
                <a:latin typeface="Microsoft YaHei UI"/>
                <a:ea typeface="Microsoft YaHei UI"/>
                <a:cs typeface="Microsoft YaHei UI"/>
              </a:rPr>
              <a:t>Prefill / GPU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7BDF17-6415-49B8-8C52-F952B23E4A67}"/>
              </a:ext>
            </a:extLst>
          </p:cNvPr>
          <p:cNvSpPr>
            <a:spLocks noGrp="1"/>
          </p:cNvSpPr>
          <p:nvPr/>
        </p:nvSpPr>
        <p:spPr>
          <a:xfrm>
            <a:off x="1219200" y="3524250"/>
            <a:ext cx="2857500" cy="22860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B6B8AB-3803-4C74-9857-CEEFAFD00532}"/>
              </a:ext>
            </a:extLst>
          </p:cNvPr>
          <p:cNvSpPr>
            <a:spLocks noGrp="1"/>
          </p:cNvSpPr>
          <p:nvPr/>
        </p:nvSpPr>
        <p:spPr>
          <a:xfrm>
            <a:off x="1219200" y="3524250"/>
            <a:ext cx="2028825" cy="228600"/>
          </a:xfrm>
          <a:prstGeom prst="rect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55DA86-A4C0-4455-9D80-956D8A7EE214}"/>
              </a:ext>
            </a:extLst>
          </p:cNvPr>
          <p:cNvSpPr>
            <a:spLocks noGrp="1"/>
          </p:cNvSpPr>
          <p:nvPr/>
        </p:nvSpPr>
        <p:spPr>
          <a:xfrm>
            <a:off x="1219200" y="3238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weights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C4C0B6-9018-4D5D-8C61-A346129D1B89}"/>
              </a:ext>
            </a:extLst>
          </p:cNvPr>
          <p:cNvSpPr>
            <a:spLocks noGrp="1"/>
          </p:cNvSpPr>
          <p:nvPr/>
        </p:nvSpPr>
        <p:spPr>
          <a:xfrm>
            <a:off x="4229100" y="3486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41.85 GiB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BCA1C1-8361-454D-9A6A-517076FD6B38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2857500" cy="22860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4FD6B4-CCAB-4E3B-A138-FA3972FCDA2C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400050" cy="228600"/>
          </a:xfrm>
          <a:prstGeom prst="rect">
            <a:avLst/>
          </a:prstGeom>
          <a:solidFill>
            <a:srgbClr val="12A5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86A1DD-A333-4C5B-BC28-30AC66765B64}"/>
              </a:ext>
            </a:extLst>
          </p:cNvPr>
          <p:cNvSpPr>
            <a:spLocks noGrp="1"/>
          </p:cNvSpPr>
          <p:nvPr/>
        </p:nvSpPr>
        <p:spPr>
          <a:xfrm>
            <a:off x="1219200" y="3810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KV cache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546CC4-3E59-4F2E-91F0-786621C12FF5}"/>
              </a:ext>
            </a:extLst>
          </p:cNvPr>
          <p:cNvSpPr>
            <a:spLocks noGrp="1"/>
          </p:cNvSpPr>
          <p:nvPr/>
        </p:nvSpPr>
        <p:spPr>
          <a:xfrm>
            <a:off x="4229100" y="4057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8.58 GiB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DCA1FF-51CF-4BB0-B24F-E0691C740299}"/>
              </a:ext>
            </a:extLst>
          </p:cNvPr>
          <p:cNvSpPr>
            <a:spLocks noGrp="1"/>
          </p:cNvSpPr>
          <p:nvPr/>
        </p:nvSpPr>
        <p:spPr>
          <a:xfrm>
            <a:off x="1219200" y="4667250"/>
            <a:ext cx="2857500" cy="22860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154749-C866-4C86-B15C-B2392765BEE8}"/>
              </a:ext>
            </a:extLst>
          </p:cNvPr>
          <p:cNvSpPr>
            <a:spLocks noGrp="1"/>
          </p:cNvSpPr>
          <p:nvPr/>
        </p:nvSpPr>
        <p:spPr>
          <a:xfrm>
            <a:off x="1219200" y="4667250"/>
            <a:ext cx="285750" cy="228600"/>
          </a:xfrm>
          <a:prstGeom prst="rect">
            <a:avLst/>
          </a:prstGeom>
          <a:solidFill>
            <a:srgbClr val="F2A5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477170-8650-4105-AF7C-59AEBF869C5F}"/>
              </a:ext>
            </a:extLst>
          </p:cNvPr>
          <p:cNvSpPr>
            <a:spLocks noGrp="1"/>
          </p:cNvSpPr>
          <p:nvPr/>
        </p:nvSpPr>
        <p:spPr>
          <a:xfrm>
            <a:off x="1219200" y="4381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activation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B26718-00C0-400B-B4F2-DD979986D10C}"/>
              </a:ext>
            </a:extLst>
          </p:cNvPr>
          <p:cNvSpPr>
            <a:spLocks noGrp="1"/>
          </p:cNvSpPr>
          <p:nvPr/>
        </p:nvSpPr>
        <p:spPr>
          <a:xfrm>
            <a:off x="4229100" y="4629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6.00 GiB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FDE229-81EB-4B31-BBD0-0D67F02CAB7C}"/>
              </a:ext>
            </a:extLst>
          </p:cNvPr>
          <p:cNvSpPr>
            <a:spLocks noGrp="1"/>
          </p:cNvSpPr>
          <p:nvPr/>
        </p:nvSpPr>
        <p:spPr>
          <a:xfrm>
            <a:off x="1219200" y="5238750"/>
            <a:ext cx="2857500" cy="228600"/>
          </a:xfrm>
          <a:prstGeom prst="rect">
            <a:avLst/>
          </a:prstGeom>
          <a:solidFill>
            <a:srgbClr val="ECE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C8D401-5F32-41DF-9A62-212209DD73CF}"/>
              </a:ext>
            </a:extLst>
          </p:cNvPr>
          <p:cNvSpPr>
            <a:spLocks noGrp="1"/>
          </p:cNvSpPr>
          <p:nvPr/>
        </p:nvSpPr>
        <p:spPr>
          <a:xfrm>
            <a:off x="1219200" y="5238750"/>
            <a:ext cx="57150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D30B2-E2F7-4FAC-B876-8866BB01EB4A}"/>
              </a:ext>
            </a:extLst>
          </p:cNvPr>
          <p:cNvSpPr>
            <a:spLocks noGrp="1"/>
          </p:cNvSpPr>
          <p:nvPr/>
        </p:nvSpPr>
        <p:spPr>
          <a:xfrm>
            <a:off x="1219200" y="4953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transfer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CA3099-B8F6-4AAE-95EF-AACCF0478165}"/>
              </a:ext>
            </a:extLst>
          </p:cNvPr>
          <p:cNvSpPr>
            <a:spLocks noGrp="1"/>
          </p:cNvSpPr>
          <p:nvPr/>
        </p:nvSpPr>
        <p:spPr>
          <a:xfrm>
            <a:off x="4229100" y="5200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0.93 GiB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354EB4-B910-4F0A-8584-0D9FFF86A0F9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4095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50CDF7-E1C7-4332-9A93-C63BECAC78A7}"/>
              </a:ext>
            </a:extLst>
          </p:cNvPr>
          <p:cNvSpPr>
            <a:spLocks noGrp="1"/>
          </p:cNvSpPr>
          <p:nvPr/>
        </p:nvSpPr>
        <p:spPr>
          <a:xfrm>
            <a:off x="6934200" y="2819400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判定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F91139-B981-4BA1-9E7D-0C19D9C43F5D}"/>
              </a:ext>
            </a:extLst>
          </p:cNvPr>
          <p:cNvSpPr>
            <a:spLocks noGrp="1"/>
          </p:cNvSpPr>
          <p:nvPr/>
        </p:nvSpPr>
        <p:spPr>
          <a:xfrm>
            <a:off x="6934199" y="3429000"/>
            <a:ext cx="3812097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total ≈ 59.36 GiB</a:t>
            </a:r>
          </a:p>
          <a:p>
            <a:pPr algn="l">
              <a:defRPr sz="18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budget = 64 × 0.9 = 57.60 GiB</a:t>
            </a:r>
          </a:p>
          <a:p>
            <a:pPr algn="l">
              <a:defRPr sz="180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headroom ≈ -1.76 GiB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59AE95E-E1BC-4F07-90FC-EAAF615EB867}"/>
              </a:ext>
            </a:extLst>
          </p:cNvPr>
          <p:cNvSpPr>
            <a:spLocks noGrp="1"/>
          </p:cNvSpPr>
          <p:nvPr/>
        </p:nvSpPr>
        <p:spPr>
          <a:xfrm>
            <a:off x="6934200" y="47625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下一步可以降低 P 侧 token budget、减少 activation reserve，或增加 TP/换更大显存卡。</a:t>
            </a:r>
          </a:p>
        </p:txBody>
      </p:sp>
    </p:spTree>
    <p:extLst>
      <p:ext uri="{BB962C8B-B14F-4D97-AF65-F5344CB8AC3E}">
        <p14:creationId xmlns:p14="http://schemas.microsoft.com/office/powerpoint/2010/main" val="57269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E49CC00-3179-4E5E-9661-3946069802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6523B3A-7048-4CC1-A521-88F16FFD5891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171450" cy="17145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DCAA9-4C3F-4F2F-8264-D364245D8A08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落地建议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F8F82D-FF1D-4ADE-8414-B2EB96A2810D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2C9FD-13CA-4CD2-9DAB-6C8EF0E712A5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显存估算的正确姿势：先拆账，再调参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0DACF5-4167-4951-9BC2-EE4678590937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估算不是替代线上 profile，而是让部署方案更早收敛。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284BAA-4DAD-4783-81C9-8AC8D1731E69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4572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94C58A-1A6D-4EFE-9A88-A21AA6000829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457200" cy="457200"/>
          </a:xfrm>
          <a:prstGeom prst="ellipse">
            <a:avLst/>
          </a:prstGeom>
          <a:solidFill>
            <a:srgbClr val="2F6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3E0DC8-7367-4A6C-8375-6AB002A130CE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45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A40099-3F4C-4F20-9318-C223323B30B6}"/>
              </a:ext>
            </a:extLst>
          </p:cNvPr>
          <p:cNvSpPr>
            <a:spLocks noGrp="1"/>
          </p:cNvSpPr>
          <p:nvPr/>
        </p:nvSpPr>
        <p:spPr>
          <a:xfrm>
            <a:off x="1695450" y="2800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先看权重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202532-AA6B-44EB-85B1-235E92521639}"/>
              </a:ext>
            </a:extLst>
          </p:cNvPr>
          <p:cNvSpPr>
            <a:spLocks noGrp="1"/>
          </p:cNvSpPr>
          <p:nvPr/>
        </p:nvSpPr>
        <p:spPr>
          <a:xfrm>
            <a:off x="1695450" y="3067050"/>
            <a:ext cx="3333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确认 dtype、量化方式、TP/EP 是否能放下模型。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6DAB7A-B08D-4707-8D7F-A4392984ED59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4572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BD05BFA-6B17-4719-BA56-31D06F0D2414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57200" cy="457200"/>
          </a:xfrm>
          <a:prstGeom prst="ellipse">
            <a:avLst/>
          </a:prstGeom>
          <a:solidFill>
            <a:srgbClr val="12A5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560E7-AA87-43E7-A6A9-E09BAB09AFDC}"/>
              </a:ext>
            </a:extLst>
          </p:cNvPr>
          <p:cNvSpPr>
            <a:spLocks noGrp="1"/>
          </p:cNvSpPr>
          <p:nvPr/>
        </p:nvSpPr>
        <p:spPr>
          <a:xfrm>
            <a:off x="6381750" y="2914650"/>
            <a:ext cx="45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754C03-AC54-48D3-9F17-44341AC7B04F}"/>
              </a:ext>
            </a:extLst>
          </p:cNvPr>
          <p:cNvSpPr>
            <a:spLocks noGrp="1"/>
          </p:cNvSpPr>
          <p:nvPr/>
        </p:nvSpPr>
        <p:spPr>
          <a:xfrm>
            <a:off x="7029450" y="2800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再看 KV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601789-4E07-4A2F-A05A-BCFEEBF51798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333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用上下文长度、并发数和 batched tokens 估 token budget。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CB9B2B-74F9-46D3-9BC0-16F910135174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4572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AC56D89-2F93-4B1E-9FE0-9F8C779CF64A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457200" cy="457200"/>
          </a:xfrm>
          <a:prstGeom prst="ellipse">
            <a:avLst/>
          </a:prstGeom>
          <a:solidFill>
            <a:srgbClr val="F2A5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CCAAE5-9EF6-4763-A489-6E3A9ED0813C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45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783F0A-C489-4E1E-94CA-AC03236FF2BF}"/>
              </a:ext>
            </a:extLst>
          </p:cNvPr>
          <p:cNvSpPr>
            <a:spLocks noGrp="1"/>
          </p:cNvSpPr>
          <p:nvPr/>
        </p:nvSpPr>
        <p:spPr>
          <a:xfrm>
            <a:off x="1695450" y="4229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单独看 PD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73ABA7-BE59-467A-82E9-B18B0DA57A01}"/>
              </a:ext>
            </a:extLst>
          </p:cNvPr>
          <p:cNvSpPr>
            <a:spLocks noGrp="1"/>
          </p:cNvSpPr>
          <p:nvPr/>
        </p:nvSpPr>
        <p:spPr>
          <a:xfrm>
            <a:off x="1695450" y="4495800"/>
            <a:ext cx="3333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P/D 分别算，不同 TP/DP 下显存结构会完全不同。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66D42D-71B7-48CF-8289-2BE0CA4B9160}"/>
              </a:ext>
            </a:extLst>
          </p:cNvPr>
          <p:cNvSpPr>
            <a:spLocks noGrp="1"/>
          </p:cNvSpPr>
          <p:nvPr/>
        </p:nvSpPr>
        <p:spPr>
          <a:xfrm>
            <a:off x="6153150" y="4000500"/>
            <a:ext cx="4572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5"/>
            </a:solidFill>
            <a:prstDash val="solid"/>
          </a:ln>
        </p:spPr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F5C0A48-BB33-4996-899E-2EB9A594EE10}"/>
              </a:ext>
            </a:extLst>
          </p:cNvPr>
          <p:cNvSpPr>
            <a:spLocks noGrp="1"/>
          </p:cNvSpPr>
          <p:nvPr/>
        </p:nvSpPr>
        <p:spPr>
          <a:xfrm>
            <a:off x="6381750" y="4286250"/>
            <a:ext cx="457200" cy="457200"/>
          </a:xfrm>
          <a:prstGeom prst="ellipse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86753E-FC95-4F01-9CF4-C1234FA31E0A}"/>
              </a:ext>
            </a:extLst>
          </p:cNvPr>
          <p:cNvSpPr>
            <a:spLocks noGrp="1"/>
          </p:cNvSpPr>
          <p:nvPr/>
        </p:nvSpPr>
        <p:spPr>
          <a:xfrm>
            <a:off x="6381750" y="4343400"/>
            <a:ext cx="45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363F8D-22F9-4ED4-84D0-4CB1BD896301}"/>
              </a:ext>
            </a:extLst>
          </p:cNvPr>
          <p:cNvSpPr>
            <a:spLocks noGrp="1"/>
          </p:cNvSpPr>
          <p:nvPr/>
        </p:nvSpPr>
        <p:spPr>
          <a:xfrm>
            <a:off x="7029450" y="4229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保留余量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82357E-F4CD-4D60-A056-CDE163E326C7}"/>
              </a:ext>
            </a:extLst>
          </p:cNvPr>
          <p:cNvSpPr>
            <a:spLocks noGrp="1"/>
          </p:cNvSpPr>
          <p:nvPr/>
        </p:nvSpPr>
        <p:spPr>
          <a:xfrm>
            <a:off x="7029450" y="4495800"/>
            <a:ext cx="3333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把 runtime、activation、KV transfer 和通信缓冲显式写入配置。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37A5D8-0409-4056-AA96-8FE44A0A9DCC}"/>
              </a:ext>
            </a:extLst>
          </p:cNvPr>
          <p:cNvSpPr>
            <a:spLocks noGrp="1"/>
          </p:cNvSpPr>
          <p:nvPr/>
        </p:nvSpPr>
        <p:spPr>
          <a:xfrm>
            <a:off x="952500" y="5981700"/>
            <a:ext cx="990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12B"/>
                </a:solidFill>
                <a:latin typeface="Microsoft YaHei UI"/>
                <a:ea typeface="Microsoft YaHei UI"/>
                <a:cs typeface="Microsoft YaHei UI"/>
              </a:rPr>
              <a:t>最后用 vLLM / vLLM-Ascend 启动日志和实际 profile 校准 activation_peak_gib 与 runtime_overhead_gib。</a:t>
            </a:r>
          </a:p>
        </p:txBody>
      </p:sp>
    </p:spTree>
    <p:extLst>
      <p:ext uri="{BB962C8B-B14F-4D97-AF65-F5344CB8AC3E}">
        <p14:creationId xmlns:p14="http://schemas.microsoft.com/office/powerpoint/2010/main" val="17603262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876</Words>
  <Application>Microsoft Office PowerPoint</Application>
  <DocSecurity>0</DocSecurity>
  <PresentationFormat>宽屏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 UI</vt:lpstr>
      <vt:lpstr>Microsoft YaHei</vt:lpstr>
      <vt:lpstr>Aptos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杰 李</cp:lastModifiedBy>
  <cp:revision>5</cp:revision>
  <dcterms:created xsi:type="dcterms:W3CDTF">2026-05-23T08:32:19Z</dcterms:created>
  <dcterms:modified xsi:type="dcterms:W3CDTF">2026-05-23T09:24:29Z</dcterms:modified>
</cp:coreProperties>
</file>